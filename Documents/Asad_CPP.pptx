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Mon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italic.fntdata"/><Relationship Id="rId14" Type="http://schemas.openxmlformats.org/officeDocument/2006/relationships/font" Target="fonts/RobotoMono-bold.fntdata"/><Relationship Id="rId16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ff69a1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ff69a1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eff69a1b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eff69a1b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eff69a1b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eff69a1b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eff69a1b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eff69a1b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eff69a1b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eff69a1b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eff69a1b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eff69a1b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3-11 at 7.16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075" y="754525"/>
            <a:ext cx="4105101" cy="13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0375" y="3162025"/>
            <a:ext cx="3532500" cy="1350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Project Title : </a:t>
            </a:r>
            <a:endParaRPr b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RBAC </a:t>
            </a:r>
            <a:r>
              <a:rPr b="1" i="1" lang="en-GB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System (</a:t>
            </a:r>
            <a:r>
              <a:rPr b="1" lang="en-GB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CPP</a:t>
            </a:r>
            <a:r>
              <a:rPr b="1" i="1" lang="en-GB" sz="17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)</a:t>
            </a:r>
            <a:endParaRPr b="1" i="1" sz="17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by</a:t>
            </a:r>
            <a:r>
              <a:rPr b="1" i="1" lang="en-GB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endParaRPr b="1" i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Asad Antule</a:t>
            </a:r>
            <a:endParaRPr b="1" i="1"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Georgia"/>
                <a:ea typeface="Georgia"/>
                <a:cs typeface="Georgia"/>
                <a:sym typeface="Georgia"/>
              </a:rPr>
              <a:t>Index : 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-GB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Problem Statement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-GB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Your solution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-GB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Working (Method/Mind map)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eorgia"/>
              <a:buAutoNum type="arabicPeriod"/>
            </a:pPr>
            <a:r>
              <a:rPr lang="en-GB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Conclusion.</a:t>
            </a:r>
            <a:endParaRPr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2" name="Google Shape;62;p14" title="Screenshot 2026-03-11 at 7.32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3150" y="4145475"/>
            <a:ext cx="815375" cy="7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2420">
                <a:latin typeface="Georgia"/>
                <a:ea typeface="Georgia"/>
                <a:cs typeface="Georgia"/>
                <a:sym typeface="Georgia"/>
              </a:rPr>
              <a:t>1] Problem Statement</a:t>
            </a:r>
            <a:r>
              <a:rPr lang="en-GB" sz="2420">
                <a:latin typeface="Georgia"/>
                <a:ea typeface="Georgia"/>
                <a:cs typeface="Georgia"/>
                <a:sym typeface="Georgia"/>
              </a:rPr>
              <a:t> </a:t>
            </a:r>
            <a:endParaRPr sz="24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Security Vulnerability:</a:t>
            </a:r>
            <a:r>
              <a:rPr lang="en-GB" sz="1700">
                <a:solidFill>
                  <a:schemeClr val="dk1"/>
                </a:solidFill>
              </a:rPr>
              <a:t> Unauthorized access to sensitive data poses a high risk of data breaches and system tampering.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Lack of Control:</a:t>
            </a:r>
            <a:r>
              <a:rPr lang="en-GB" sz="1700">
                <a:solidFill>
                  <a:schemeClr val="dk1"/>
                </a:solidFill>
              </a:rPr>
              <a:t> Without a system, every user has the same privileges, leading to potential accidental data deletion.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Case Study Requirement:</a:t>
            </a:r>
            <a:r>
              <a:rPr lang="en-GB" sz="1700">
                <a:solidFill>
                  <a:schemeClr val="dk1"/>
                </a:solidFill>
              </a:rPr>
              <a:t> Implementation of a specific "Gatekeeper" logic to enforce organizational hierarchy.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Identity Management:</a:t>
            </a:r>
            <a:r>
              <a:rPr lang="en-GB" sz="1700">
                <a:solidFill>
                  <a:schemeClr val="dk1"/>
                </a:solidFill>
              </a:rPr>
              <a:t> Difficulty in managing user permissions across a growing database without a structured framework.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GB" sz="1700">
                <a:solidFill>
                  <a:schemeClr val="dk1"/>
                </a:solidFill>
              </a:rPr>
              <a:t>Core Goal:</a:t>
            </a:r>
            <a:r>
              <a:rPr lang="en-GB" sz="1700">
                <a:solidFill>
                  <a:schemeClr val="dk1"/>
                </a:solidFill>
              </a:rPr>
              <a:t> To satisfy the </a:t>
            </a:r>
            <a:r>
              <a:rPr b="1" lang="en-GB" sz="1700">
                <a:solidFill>
                  <a:schemeClr val="dk1"/>
                </a:solidFill>
              </a:rPr>
              <a:t>Case Study </a:t>
            </a:r>
            <a:r>
              <a:rPr lang="en-GB" sz="1700">
                <a:solidFill>
                  <a:schemeClr val="dk1"/>
                </a:solidFill>
              </a:rPr>
              <a:t>mandate: "Unauthorized access threatens system security" by implementing RBAC.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69" name="Google Shape;69;p15" title="Screenshot 2026-03-11 at 7.32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7250" y="4327125"/>
            <a:ext cx="669800" cy="6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-GB" sz="2420">
                <a:latin typeface="Georgia"/>
                <a:ea typeface="Georgia"/>
                <a:cs typeface="Georgia"/>
                <a:sym typeface="Georgia"/>
              </a:rPr>
              <a:t>2] Your Solution </a:t>
            </a:r>
            <a:endParaRPr i="1" sz="24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5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500">
                <a:solidFill>
                  <a:schemeClr val="dk1"/>
                </a:solidFill>
              </a:rPr>
              <a:t>RBAC Architecture:</a:t>
            </a:r>
            <a:r>
              <a:rPr lang="en-GB" sz="1500">
                <a:solidFill>
                  <a:schemeClr val="dk1"/>
                </a:solidFill>
              </a:rPr>
              <a:t> A C++ system that assigns specific permissions to roles rather than individual users.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500">
                <a:solidFill>
                  <a:schemeClr val="dk1"/>
                </a:solidFill>
              </a:rPr>
              <a:t>Object-Oriented Design:</a:t>
            </a:r>
            <a:r>
              <a:rPr lang="en-GB" sz="1500">
                <a:solidFill>
                  <a:schemeClr val="dk1"/>
                </a:solidFill>
              </a:rPr>
              <a:t> Uses a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-GB" sz="1500">
                <a:solidFill>
                  <a:schemeClr val="dk1"/>
                </a:solidFill>
              </a:rPr>
              <a:t> class to encapsulate attributes like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username</a:t>
            </a:r>
            <a:r>
              <a:rPr lang="en-GB" sz="1500">
                <a:solidFill>
                  <a:schemeClr val="dk1"/>
                </a:solidFill>
              </a:rPr>
              <a:t> and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role</a:t>
            </a:r>
            <a:r>
              <a:rPr lang="en-GB" sz="1500">
                <a:solidFill>
                  <a:schemeClr val="dk1"/>
                </a:solidFill>
              </a:rPr>
              <a:t> for clean code structure.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500">
                <a:solidFill>
                  <a:schemeClr val="dk1"/>
                </a:solidFill>
              </a:rPr>
              <a:t>File-Based Persistence:</a:t>
            </a:r>
            <a:r>
              <a:rPr lang="en-GB" sz="1500">
                <a:solidFill>
                  <a:schemeClr val="dk1"/>
                </a:solidFill>
              </a:rPr>
              <a:t> Integrates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&lt;fstream&gt;</a:t>
            </a:r>
            <a:r>
              <a:rPr lang="en-GB" sz="1500">
                <a:solidFill>
                  <a:schemeClr val="dk1"/>
                </a:solidFill>
              </a:rPr>
              <a:t> to store credentials in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users.txt</a:t>
            </a:r>
            <a:r>
              <a:rPr lang="en-GB" sz="1500">
                <a:solidFill>
                  <a:schemeClr val="dk1"/>
                </a:solidFill>
              </a:rPr>
              <a:t>, ensuring data is saved after the program exits.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500">
                <a:solidFill>
                  <a:schemeClr val="dk1"/>
                </a:solidFill>
              </a:rPr>
              <a:t>Modular Security Engine:</a:t>
            </a:r>
            <a:r>
              <a:rPr lang="en-GB" sz="1500">
                <a:solidFill>
                  <a:schemeClr val="dk1"/>
                </a:solidFill>
              </a:rPr>
              <a:t> A dedicated </a:t>
            </a:r>
            <a:r>
              <a:rPr lang="en-GB" sz="15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checkAccess()</a:t>
            </a:r>
            <a:r>
              <a:rPr lang="en-GB" sz="1500">
                <a:solidFill>
                  <a:schemeClr val="dk1"/>
                </a:solidFill>
              </a:rPr>
              <a:t> function that acts as a central firewall for all data operations.</a:t>
            </a:r>
            <a:endParaRPr sz="15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500">
                <a:solidFill>
                  <a:schemeClr val="dk1"/>
                </a:solidFill>
              </a:rPr>
              <a:t>Three-Tier Hierarchy:</a:t>
            </a:r>
            <a:r>
              <a:rPr lang="en-GB" sz="1500">
                <a:solidFill>
                  <a:schemeClr val="dk1"/>
                </a:solidFill>
              </a:rPr>
              <a:t> Implements a clear permission ladder: </a:t>
            </a:r>
            <a:r>
              <a:rPr b="1" lang="en-GB" sz="1500">
                <a:solidFill>
                  <a:schemeClr val="dk1"/>
                </a:solidFill>
              </a:rPr>
              <a:t>Admin</a:t>
            </a:r>
            <a:r>
              <a:rPr lang="en-GB" sz="1500">
                <a:solidFill>
                  <a:schemeClr val="dk1"/>
                </a:solidFill>
              </a:rPr>
              <a:t> (Full), </a:t>
            </a:r>
            <a:r>
              <a:rPr b="1" lang="en-GB" sz="1500">
                <a:solidFill>
                  <a:schemeClr val="dk1"/>
                </a:solidFill>
              </a:rPr>
              <a:t>Manager</a:t>
            </a:r>
            <a:r>
              <a:rPr lang="en-GB" sz="1500">
                <a:solidFill>
                  <a:schemeClr val="dk1"/>
                </a:solidFill>
              </a:rPr>
              <a:t> (Write/Read), and </a:t>
            </a:r>
            <a:r>
              <a:rPr b="1" lang="en-GB" sz="1500">
                <a:solidFill>
                  <a:schemeClr val="dk1"/>
                </a:solidFill>
              </a:rPr>
              <a:t>Employee</a:t>
            </a:r>
            <a:r>
              <a:rPr lang="en-GB" sz="1500">
                <a:solidFill>
                  <a:schemeClr val="dk1"/>
                </a:solidFill>
              </a:rPr>
              <a:t> (Read Only).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400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76" name="Google Shape;76;p16" title="Screenshot 2026-03-11 at 7.32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7250" y="4327125"/>
            <a:ext cx="669800" cy="6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3]</a:t>
            </a:r>
            <a:r>
              <a:rPr lang="en-GB" sz="2650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GB" sz="2650">
                <a:latin typeface="Georgia"/>
                <a:ea typeface="Georgia"/>
                <a:cs typeface="Georgia"/>
                <a:sym typeface="Georgia"/>
              </a:rPr>
              <a:t>Working (Method / Mind Map)</a:t>
            </a:r>
            <a:endParaRPr sz="265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1. </a:t>
            </a:r>
            <a:r>
              <a:rPr b="1" lang="en-GB" sz="1400">
                <a:solidFill>
                  <a:schemeClr val="dk1"/>
                </a:solidFill>
              </a:rPr>
              <a:t>User Registration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Username + Role Entry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Data Saved to </a:t>
            </a:r>
            <a:r>
              <a:rPr b="1" lang="en-GB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users.txt</a:t>
            </a:r>
            <a:r>
              <a:rPr lang="en-GB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2. </a:t>
            </a:r>
            <a:r>
              <a:rPr b="1" lang="en-GB" sz="1400">
                <a:solidFill>
                  <a:schemeClr val="dk1"/>
                </a:solidFill>
              </a:rPr>
              <a:t>Login Request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Username Input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Search Triggered</a:t>
            </a:r>
            <a:r>
              <a:rPr lang="en-GB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3. </a:t>
            </a:r>
            <a:r>
              <a:rPr b="1" lang="en-GB" sz="1400">
                <a:solidFill>
                  <a:schemeClr val="dk1"/>
                </a:solidFill>
              </a:rPr>
              <a:t>Database Search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getRole()</a:t>
            </a:r>
            <a:r>
              <a:rPr b="1" lang="en-GB" sz="1400">
                <a:solidFill>
                  <a:schemeClr val="dk1"/>
                </a:solidFill>
              </a:rPr>
              <a:t> scans File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User Record Located</a:t>
            </a:r>
            <a:r>
              <a:rPr lang="en-GB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4. </a:t>
            </a:r>
            <a:r>
              <a:rPr b="1" lang="en-GB" sz="1400">
                <a:solidFill>
                  <a:schemeClr val="dk1"/>
                </a:solidFill>
              </a:rPr>
              <a:t>Role Identification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Identify Role Type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Admin / Manager / Employee</a:t>
            </a:r>
            <a:r>
              <a:rPr lang="en-GB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5. </a:t>
            </a:r>
            <a:r>
              <a:rPr b="1" lang="en-GB" sz="1400">
                <a:solidFill>
                  <a:schemeClr val="dk1"/>
                </a:solidFill>
              </a:rPr>
              <a:t>Action Selection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User Choice Input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Read / Write / Delete</a:t>
            </a:r>
            <a:r>
              <a:rPr lang="en-GB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6. </a:t>
            </a:r>
            <a:r>
              <a:rPr b="1" lang="en-GB" sz="1400">
                <a:solidFill>
                  <a:schemeClr val="dk1"/>
                </a:solidFill>
              </a:rPr>
              <a:t>Security Validation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checkAccess()</a:t>
            </a:r>
            <a:r>
              <a:rPr b="1" lang="en-GB" sz="1400">
                <a:solidFill>
                  <a:schemeClr val="dk1"/>
                </a:solidFill>
              </a:rPr>
              <a:t> Logic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Compare Role vs. Choice</a:t>
            </a:r>
            <a:r>
              <a:rPr lang="en-GB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7. </a:t>
            </a:r>
            <a:r>
              <a:rPr b="1" lang="en-GB" sz="1400">
                <a:solidFill>
                  <a:schemeClr val="dk1"/>
                </a:solidFill>
              </a:rPr>
              <a:t>Final Result</a:t>
            </a:r>
            <a:r>
              <a:rPr lang="en-GB" sz="1400">
                <a:solidFill>
                  <a:schemeClr val="dk1"/>
                </a:solidFill>
              </a:rPr>
              <a:t> ➔ </a:t>
            </a:r>
            <a:r>
              <a:rPr b="1" lang="en-GB" sz="1400">
                <a:solidFill>
                  <a:schemeClr val="dk1"/>
                </a:solidFill>
              </a:rPr>
              <a:t>Access Granted</a:t>
            </a:r>
            <a:r>
              <a:rPr lang="en-GB" sz="1400">
                <a:solidFill>
                  <a:schemeClr val="dk1"/>
                </a:solidFill>
              </a:rPr>
              <a:t> OR </a:t>
            </a:r>
            <a:r>
              <a:rPr b="1" lang="en-GB" sz="1400">
                <a:solidFill>
                  <a:schemeClr val="dk1"/>
                </a:solidFill>
              </a:rPr>
              <a:t>Access Denied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3" name="Google Shape;83;p17" title="Screenshot 2026-03-11 at 7.32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7250" y="4327125"/>
            <a:ext cx="669800" cy="6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Georgia"/>
                <a:ea typeface="Georgia"/>
                <a:cs typeface="Georgia"/>
                <a:sym typeface="Georgia"/>
              </a:rPr>
              <a:t>4] Conclusion</a:t>
            </a:r>
            <a:endParaRPr i="1" sz="24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3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600">
                <a:solidFill>
                  <a:schemeClr val="dk1"/>
                </a:solidFill>
              </a:rPr>
              <a:t>Objective Met:</a:t>
            </a:r>
            <a:r>
              <a:rPr lang="en-GB" sz="1600">
                <a:solidFill>
                  <a:schemeClr val="dk1"/>
                </a:solidFill>
              </a:rPr>
              <a:t> Successfully controlled access based on roles as per the requirements.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600">
                <a:solidFill>
                  <a:schemeClr val="dk1"/>
                </a:solidFill>
              </a:rPr>
              <a:t>Code Reliability:</a:t>
            </a:r>
            <a:r>
              <a:rPr lang="en-GB" sz="1600">
                <a:solidFill>
                  <a:schemeClr val="dk1"/>
                </a:solidFill>
              </a:rPr>
              <a:t> Demonstrated stable file handling and persistence across multiple execution cycles.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600">
                <a:solidFill>
                  <a:schemeClr val="dk1"/>
                </a:solidFill>
              </a:rPr>
              <a:t>Scalability:</a:t>
            </a:r>
            <a:r>
              <a:rPr lang="en-GB" sz="1600">
                <a:solidFill>
                  <a:schemeClr val="dk1"/>
                </a:solidFill>
              </a:rPr>
              <a:t> The system is designed to easily add new roles (e.g., "Intern") without rewriting the core engine.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600">
                <a:solidFill>
                  <a:schemeClr val="dk1"/>
                </a:solidFill>
              </a:rPr>
              <a:t>Security Insight:</a:t>
            </a:r>
            <a:r>
              <a:rPr lang="en-GB" sz="1600">
                <a:solidFill>
                  <a:schemeClr val="dk1"/>
                </a:solidFill>
              </a:rPr>
              <a:t> Proves the effectiveness of programmatic restrictions in preventing privilege escalation.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GB" sz="1600">
                <a:solidFill>
                  <a:schemeClr val="dk1"/>
                </a:solidFill>
              </a:rPr>
              <a:t>Practical Application:</a:t>
            </a:r>
            <a:r>
              <a:rPr lang="en-GB" sz="1600">
                <a:solidFill>
                  <a:schemeClr val="dk1"/>
                </a:solidFill>
              </a:rPr>
              <a:t> Provides a foundation for real-world </a:t>
            </a:r>
            <a:r>
              <a:rPr b="1" lang="en-GB" sz="1600">
                <a:solidFill>
                  <a:schemeClr val="dk1"/>
                </a:solidFill>
              </a:rPr>
              <a:t>Cyber Security</a:t>
            </a:r>
            <a:r>
              <a:rPr lang="en-GB" sz="1600">
                <a:solidFill>
                  <a:schemeClr val="dk1"/>
                </a:solidFill>
              </a:rPr>
              <a:t> concepts like Identity and Access Management (IAM).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8" title="Screenshot 2026-03-11 at 7.32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7250" y="4327125"/>
            <a:ext cx="669800" cy="6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000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 title="Screenshot 2026-03-11 at 7.34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4100" y="575000"/>
            <a:ext cx="4065974" cy="12883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9"/>
          <p:cNvSpPr txBox="1"/>
          <p:nvPr/>
        </p:nvSpPr>
        <p:spPr>
          <a:xfrm>
            <a:off x="3367525" y="2989050"/>
            <a:ext cx="23874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THANK YOU </a:t>
            </a:r>
            <a:endParaRPr sz="1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